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274320"/>
            <a:ext cx="2377440" cy="2377440"/>
          </a:xfrm>
          <a:prstGeom prst="ellipse">
            <a:avLst/>
          </a:prstGeom>
          <a:solidFill>
            <a:srgbClr val="2E3A9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INTELLIGENCE LAB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Adversarial Prompt Landscape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taxonomy-driven pipeline for clustering, labeling, and analyzing jailbreaks across five public datasets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Rishitha Pamu  •  Data Science &amp; Engineering Intern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Intelligence Lab  •  Summer Internship, Weeks 1–8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01/23  |  Title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·  1/2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Red-Teaming as a Field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jailbreak research has exploded — the datasets documenting it haven't caught up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066544" cy="2743200"/>
          </a:xfrm>
          <a:prstGeom prst="rect">
            <a:avLst>
              <a:gd name="adj" fmla="val 265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6888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AdvBench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 schema at all — unlabeled prompts, evaluation left entirely to the user.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98064" y="2286000"/>
            <a:ext cx="2066544" cy="2743200"/>
          </a:xfrm>
          <a:prstGeom prst="rect">
            <a:avLst>
              <a:gd name="adj" fmla="val 265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935224" y="246888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35224" y="278892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In-The-Wild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35224" y="333756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from Reddit &amp; Discord — real users, but noisy and no behavior categories.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47488" y="2286000"/>
            <a:ext cx="2066544" cy="2743200"/>
          </a:xfrm>
          <a:prstGeom prst="rect">
            <a:avLst>
              <a:gd name="adj" fmla="val 265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184648" y="246888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84648" y="278892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Do-Not-Answer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84648" y="333756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both the prompt's risk area AND the expected response type.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96912" y="2286000"/>
            <a:ext cx="2066544" cy="2743200"/>
          </a:xfrm>
          <a:prstGeom prst="rect">
            <a:avLst>
              <a:gd name="adj" fmla="val 265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34072" y="246888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34072" y="278892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JailbreakBench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34072" y="333756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dataset with benign prompts — enables false-positive testing.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46336" y="2286000"/>
            <a:ext cx="2066544" cy="2743200"/>
          </a:xfrm>
          <a:prstGeom prst="rect">
            <a:avLst>
              <a:gd name="adj" fmla="val 2655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683496" y="246888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83496" y="278892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HarmBench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83496" y="333756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Richest schema — semantic (topic) + functional (attack type) labels.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research groups. Five schemas. Zero shared vocabulary.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02/23  |  Problem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·  2/2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Specific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shared map of how LLM attacks actually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incompatible datasets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24963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schema, label set, and quality bar — none unified into one queryable form.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1280160" y="3246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and objective are conflated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6393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labels mix HOW an attack works with WHAT the attacker wants — hiding coverage gaps.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1280160" y="4389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blind spots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47823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answer: which attack techniques have never been tested against which objectives?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777240"/>
          </a:xfrm>
          <a:prstGeom prst="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single, queryable registry that separates attack primitive from attacker behavior — so gaps become visible instead of invisible.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03/23  |  Problem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·  1/3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eight-stage pipeline, each stage validated before the next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1965960"/>
          </a:xfrm>
          <a:prstGeom prst="rect">
            <a:avLst>
              <a:gd name="adj" fmla="val 2791"/>
            </a:avLst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5 datasets into one AttackRecord schema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2606040" cy="1965960"/>
          </a:xfrm>
          <a:prstGeom prst="rect">
            <a:avLst>
              <a:gd name="adj" fmla="val 2791"/>
            </a:avLst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3520440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30632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sentence embeddings, cached by content hash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606040" cy="1965960"/>
          </a:xfrm>
          <a:prstGeom prst="rect">
            <a:avLst>
              <a:gd name="adj" fmla="val 2791"/>
            </a:avLst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30632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similarity search removes near-duplicate prompts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15400" y="1965960"/>
            <a:ext cx="2606040" cy="1965960"/>
          </a:xfrm>
          <a:prstGeom prst="rect">
            <a:avLst>
              <a:gd name="adj" fmla="val 2791"/>
            </a:avLst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9098280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9828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98280" y="30632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+ HDBSCAN → 69 behavioral clusters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2606040" cy="1965960"/>
          </a:xfrm>
          <a:prstGeom prst="rect">
            <a:avLst>
              <a:gd name="adj" fmla="val 2791"/>
            </a:avLst>
          </a:prstGeom>
          <a:solidFill>
            <a:srgbClr val="E9EEFB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937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" y="5303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Human-reviewed cluster descriptions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4206240"/>
            <a:ext cx="2606040" cy="1965960"/>
          </a:xfrm>
          <a:prstGeom prst="rect">
            <a:avLst>
              <a:gd name="adj" fmla="val 2791"/>
            </a:avLst>
          </a:prstGeom>
          <a:solidFill>
            <a:srgbClr val="E9EEFB"/>
          </a:solidFill>
          <a:ln/>
        </p:spPr>
      </p:sp>
      <p:sp>
        <p:nvSpPr>
          <p:cNvPr id="31" name="Shape 29"/>
          <p:cNvSpPr/>
          <p:nvPr/>
        </p:nvSpPr>
        <p:spPr>
          <a:xfrm>
            <a:off x="3520440" y="4389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0440" y="4937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520440" y="5303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mapped to a primitive + behavior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26480" y="4206240"/>
            <a:ext cx="2606040" cy="1965960"/>
          </a:xfrm>
          <a:prstGeom prst="rect">
            <a:avLst>
              <a:gd name="adj" fmla="val 2791"/>
            </a:avLst>
          </a:prstGeom>
          <a:solidFill>
            <a:srgbClr val="E9EEFB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9360" y="4389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4937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309360" y="5303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× behavior matrix reveals gaps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15400" y="4206240"/>
            <a:ext cx="2606040" cy="1965960"/>
          </a:xfrm>
          <a:prstGeom prst="rect">
            <a:avLst>
              <a:gd name="adj" fmla="val 2791"/>
            </a:avLst>
          </a:prstGeom>
          <a:solidFill>
            <a:srgbClr val="E9EEFB"/>
          </a:solidFill>
          <a:ln/>
        </p:spPr>
      </p:sp>
      <p:sp>
        <p:nvSpPr>
          <p:cNvPr id="41" name="Shape 39"/>
          <p:cNvSpPr/>
          <p:nvPr/>
        </p:nvSpPr>
        <p:spPr>
          <a:xfrm>
            <a:off x="9098280" y="4389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90982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098280" y="4937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098280" y="5303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for interactive exploration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04/23  |  Approach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·  2/3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Decisions That Shaped Everything Else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exists to make a later analysis possible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3749040"/>
          </a:xfrm>
          <a:prstGeom prst="rect">
            <a:avLst>
              <a:gd name="adj" fmla="val 2078"/>
            </a:avLst>
          </a:prstGeom>
          <a:solidFill>
            <a:srgbClr val="E9EEF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Normalized schema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datasets, one shape. Validates at ingestion; a `raw` field preserves the original row so nothing is lost.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520440" cy="3749040"/>
          </a:xfrm>
          <a:prstGeom prst="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3774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Content-hashed IDs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hash(source + prompt)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52044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re-running ingestion never breaks the embedding cache, and cross-source duplicates stay distinct records.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520440" cy="3749040"/>
          </a:xfrm>
          <a:prstGeom prst="rect">
            <a:avLst>
              <a:gd name="adj" fmla="val 2078"/>
            </a:avLst>
          </a:prstGeom>
          <a:solidFill>
            <a:srgbClr val="E9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3774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Orthogonal taxonomy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66760" y="2971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× Behavior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352044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(HOW) and objective (WHAT) are kept as independent axes — the only way gap analysis becomes possible.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05/23  |  Approach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·  3/3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chosen for a specific job in the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0391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0" y="203911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· uv (dependency management, lockfile-based reproducibility)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81635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281635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(MiniLM-L6-v2) · faiss-cpu · umap-learn · hdbscan · pydantic · pandas/pyarrow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5935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&amp; Dashboard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89120" y="359359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Plotly · matplotlib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3708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&amp; Testing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89120" y="437083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typer · pytest · ruff (lint + format, enforced via pre-commit)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514807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0" y="514807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/ Overleaf (report) · pptxgenjs (this deck)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06/23  |  Approach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 ·  HEADLINE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Corpus Is Dominated by Meta-Attacks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931920"/>
          </a:xfrm>
          <a:prstGeom prst="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primitive × behavior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is empty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4805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of 104 possible (primitive, behavior) cells across 8 primitives × 13 behaviors have zero clusters.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737360"/>
            <a:ext cx="7498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found:
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primitives — 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instruction_override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roleplay_jailbreak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account for the overwhelming majority of clusters.
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teaches HOW to get past a model's rules far more thoroughly than it teaches WHAT an attacker wants done once the rules are broken.
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or defense trained only on this corpus inherits that same imbalance.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07/23  |  Findings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 · 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Gaps Actually Are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directly from cluster_assignments.yaml — the registry's single source of truth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3977640"/>
          </a:xfrm>
          <a:prstGeom prst="rect">
            <a:avLst>
              <a:gd name="adj" fmla="val 1839"/>
            </a:avLst>
          </a:prstGeom>
          <a:solidFill>
            <a:srgbClr val="E9EE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DENSEST COMBINATIONS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instruction_override × content_policy_circumvention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2606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clusters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roleplay_jailbreak × content_policy_circumvention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clusters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instruction_override × misinformation_generation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4160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clusters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instruction_override × criminal_assistance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4937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clusters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965960"/>
            <a:ext cx="5394960" cy="3977640"/>
          </a:xfrm>
          <a:prstGeom prst="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OR ZERO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emotional_engagement × harmful_advice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0" y="2606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cluster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instruction_override × economic_manipulation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87000" y="3383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cluster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emotional_engagement × self_harm_enablement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87000" y="41605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never observed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content_extraction × misinformation_generation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87000" y="49377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never observed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08/23  |  Findings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 ·  HEADLINE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Prompts Sit on Cluster Boundaries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datasets cluster cleanly. Scraped, real-user prompts don't.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review, not just cluster counts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53288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gives every clustered point a soft membership probability. Points below a strict 0.05 threshold are flagged as "weak members" — likely mislabeled or boundary cases — and reviewed by hand.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1280160" y="3794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 members weren't evenly distributed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422452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flagged prompts were traced back to source, one dataset stood out disproportionately — confirming a prediction made all the way back in the dataset-selection ADR.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11064240" cy="777240"/>
          </a:xfrm>
          <a:prstGeom prst="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specific case on the next slide: </a:t>
            </a:r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7.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09/23  |  Findings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 · 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Cluster 7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977640"/>
          </a:xfrm>
          <a:prstGeom prst="rect">
            <a:avLst>
              <a:gd name="adj" fmla="val 1839"/>
            </a:avLst>
          </a:prstGeom>
          <a:solidFill>
            <a:srgbClr val="E9EE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"Roleplay person jailbreak"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narrow. Quality review found 9 weak members (probability &lt; 0.05) — all from a single source: in-the-wild.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4846320" cy="0"/>
          </a:xfrm>
          <a:prstGeom prst="line">
            <a:avLst/>
          </a:prstGeom>
          <a:noFill/>
          <a:ln w="12700">
            <a:solidFill>
              <a:srgbClr val="B9C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34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Relabeled to include fictional-AI-persona prompts (ucar, AIM), not just historical-figure roleplay.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349240" cy="3977640"/>
          </a:xfrm>
          <a:prstGeom prst="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in-the-wild is scraped from Reddit and Discord — real attackers, but inconsistent framing.
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datasets (JailbreakBench, HarmBench) cluster tightly; real-world data lands on boundaries.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registry built only from academic examples will under-describe how real attackers actually phrase things.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10/23  |  Findings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 ·  HEADLINE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Metrics That Looked Useful — and Weren't, As-Is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scores were misleading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350008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highest-"novelty" prompts weren't new attack patterns — they were encoding artifacts (odd unicode, formatting noise) pushed to the edge of the embedding space.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1234440" y="3520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doesn't apply to unsupervised clusters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950208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against cluster_assignments.yaml would be circular — it was built from the clusters themselves. The only valid ground truth is attack_category, captured before clustering ever ran.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868680"/>
          </a:xfrm>
          <a:prstGeom prst="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required going back to first principles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either metric could be trusted for a real evaluation — see the ground-truth table on the next slide.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11/23  |  Findings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 · 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 Is Only Two-Fifths Available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attack_category — the only non-circular label — is null for two of five datasets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2926080"/>
        </p:xfrm>
        <a:graphic>
          <a:graphicData uri="http://schemas.openxmlformats.org/drawingml/2006/table">
            <a:tbl>
              <a:tblPr/>
              <a:tblGrid>
                <a:gridCol w="3474720"/>
                <a:gridCol w="4846320"/>
                <a:gridCol w="274320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attack_category source 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JailbreakBench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(10 behavior categories)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HarmBench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Do-Not-Answer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risk_area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AdvBench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(no label schema)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In-The-Wild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(no behavior categories)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103120"/>
            <a:ext cx="11064240" cy="4846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103120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06240" y="2103120"/>
            <a:ext cx="4663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attack_category source field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15400" y="2103120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349240"/>
            <a:ext cx="11064240" cy="822960"/>
          </a:xfrm>
          <a:prstGeom prst="rect">
            <a:avLst>
              <a:gd name="adj" fmla="val 8889"/>
            </a:avLst>
          </a:prstGeom>
          <a:solidFill>
            <a:srgbClr val="CADCF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evaluation using attack_category as ground truth is honest about covering only 3 of 5 sources — not silently extrapolated to the rest.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12/23  |  Findings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Datasets Overlap More Than Expected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546 near-duplicate pairs found across 3,464 records at a 0.95 cosine-similarity threshold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1371600"/>
          </a:xfrm>
          <a:prstGeom prst="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pairs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148840"/>
            <a:ext cx="3566160" cy="1371600"/>
          </a:xfrm>
          <a:prstGeom prst="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2240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34340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duplicates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148840"/>
            <a:ext cx="3566160" cy="1371600"/>
          </a:xfrm>
          <a:prstGeom prst="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2240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13816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 on exact matches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32 cross-source duplicates were between AdvBench and JailbreakBench — several scored a perfect 1.000, meaning byte-for-byte identical prompts.
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independently confirms a claim made in Week 1's dataset-selection ADR, before any embedding had been computed: JailbreakBench was partially derived from AdvBench.
</a:t>
            </a:r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nice validation loop — a decision made from documentation alone, later confirmed by the data itself.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13/23  |  Findings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1/3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Coverage Dashboard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pages, one Streamlit app, built on top of the same registry used for every finding in this deck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263180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stats, source breakdown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2606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263180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78892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3383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Explorer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74720" y="37490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inspect any cluster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606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263180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78892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383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Analysis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63640" y="37490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 × behavior heatmap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15400" y="2606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263180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278892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52560" y="3383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52560" y="37490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FAISS index live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14/23  |  Demo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2/3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Drill-Down: Chasing a Zero Cell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the exact scenario behind Finding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Analysis page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primitive × behavior heatmap. emotional_engagement × self_harm_enablement renders as a blank, white cell.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1280160" y="31546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cell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3154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confirms: 0 clusters. Not "no data yet" — genuinely never observed anywhere in 3,464 prompts.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1280160" y="42062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Explorer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4206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primitive = emotional_engagement. Only 2 clusters exist for this primitive at all, both paired with different behaviors.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1280160" y="5257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5257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"convince someone gently to hurt themselves" — the closest matches are weak, low-similarity results, not confident hits.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15/23  |  Demo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3/3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Live Goes Wrong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recorded walkthrough covers the same four pages and the same drill-down scenario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3291840"/>
          </a:xfrm>
          <a:prstGeom prst="roundRect">
            <a:avLst>
              <a:gd name="adj" fmla="val 2778"/>
            </a:avLst>
          </a:prstGeom>
          <a:solidFill>
            <a:srgbClr val="263180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41848" y="3566160"/>
            <a:ext cx="914400" cy="9144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5641848" y="3566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466344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 — Recorded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502920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linked in the Portfolio README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16/23  |  Demo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·  1/2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Consciously Accepted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in known-issues.md — naming limits is a strength, not a weakness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built, not applied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5146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dedup_merge.py exists and works, but wasn't run before clustering — that would have meant relabeling all 69–70 clusters by hand.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1280160" y="32918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of the corpus is noise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7033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~830 points are HDBSCAN noise and excluded from the 75%-empty headline stat. Noise isn't failure, but it is a real scoping choice.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1280160" y="44805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100% unlabeled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8920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dataset provides it. Per ADR 002, it was always meant to be assigned later — manually or by a classifier.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17/23  |  Limitations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·  2/2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Need Rework With a Bigger Corpus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decisions that a larger-scale version of this project can't defer forever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Retroactive dedup shifts every label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280160" y="251460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dedup ran before clustering, cluster boundaries move — all 69 hand-written labels would need re-validation. A majority-vote carryover was proposed as a mitigation, not yet built.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1280160" y="33375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attack_category isn't unified across sources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280160" y="374904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where it exists, it's not one shared taxonomy across JailbreakBench, HarmBench, and Do-Not-Answer — a real eval harness needs that unification first.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1280160" y="45720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review is a bottleneck by design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280160" y="49834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Weak-member review is manual and prompt-by-prompt. Scaling to more clusters means scaling the review process proportionally, not just the compute.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18/23  |  Limitations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Six More Months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ranked next steps, each grounded in a finding or a known issue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1188720"/>
          </a:xfrm>
          <a:prstGeom prst="rect">
            <a:avLst>
              <a:gd name="adj" fmla="val 6154"/>
            </a:avLst>
          </a:prstGeom>
          <a:solidFill>
            <a:srgbClr val="E9EE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86000"/>
            <a:ext cx="10972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9572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Close the coverage gaps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data collection or synthetic augmentation aimed at the sparsest cells from Finding 1 — not more data everywhere.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1064240" cy="1188720"/>
          </a:xfrm>
          <a:prstGeom prst="rect">
            <a:avLst>
              <a:gd name="adj" fmla="val 6154"/>
            </a:avLst>
          </a:prstGeom>
          <a:solidFill>
            <a:srgbClr val="E9EEF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703320"/>
            <a:ext cx="109728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130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a unified evaluation harness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ground-truth gap from Finding 3 — unify attack_category across the 3 datasets that have it, then label the 2 that don't.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1064240" cy="1188720"/>
          </a:xfrm>
          <a:prstGeom prst="rect">
            <a:avLst>
              <a:gd name="adj" fmla="val 6154"/>
            </a:avLst>
          </a:prstGeom>
          <a:solidFill>
            <a:srgbClr val="E9EEFB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5120640"/>
            <a:ext cx="10972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230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Turn dedup into a re-labeling pipeline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6235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dedup_merge.py properly, and pair it with the majority-vote carryover mechanism so relabeling stops being a one-off manual cost.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19/23  |  What's Next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happy to walk through any part of the pipeline live.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3383280" cy="1005840"/>
          </a:xfrm>
          <a:prstGeom prst="rect">
            <a:avLst>
              <a:gd name="adj" fmla="val 5455"/>
            </a:avLst>
          </a:prstGeom>
          <a:solidFill>
            <a:srgbClr val="26318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github.com/rishithapamu/ai-security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4206240"/>
            <a:ext cx="3383280" cy="1005840"/>
          </a:xfrm>
          <a:prstGeom prst="rect">
            <a:avLst>
              <a:gd name="adj" fmla="val 5455"/>
            </a:avLst>
          </a:prstGeom>
          <a:solidFill>
            <a:srgbClr val="263180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4663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 + demo video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4206240"/>
            <a:ext cx="3383280" cy="1005840"/>
          </a:xfrm>
          <a:prstGeom prst="rect">
            <a:avLst>
              <a:gd name="adj" fmla="val 5455"/>
            </a:avLst>
          </a:prstGeom>
          <a:solidFill>
            <a:srgbClr val="26318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4663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presentation, PDF + editable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6035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Rishitha Pamu  •  AI Security Intelligence Lab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20/23  |  Close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B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HDBSCAN Parameter Sweep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772400" cy="27432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82880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min_cluster_size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n_clusters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noise_rate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(chosen)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645920"/>
            <a:ext cx="77724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min_cluster_size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78892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n_clusters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1772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noise_rate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4652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0" y="173736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15, not 10 (better silhouette)?
</a:t>
            </a:r>
            <a:pPr indent="0" marL="0"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gives 99 clusters — too many to hand-label meaningfully. 15 is the smallest setting that still keeps clusters specific enough to describe in one sentence, without fragmenting the corpus past the point of interpretability.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21/23  |  Appendix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Provenance &amp; Licensing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737360"/>
                <a:gridCol w="182880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JailbreakBench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AdvBench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HarmBench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Do-Not-Answer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In-The-Wild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383280" y="20116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846320" y="2011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0" y="20116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1248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ADR 001 — Dataset Selection for Initial Ingestion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22/23  |  Appendix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Decision Records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5727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 — Dataset Selection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JailbreakBench was ingested first, and the full comparison of all 5 candidates.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68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 — Attack Record Schema Design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8163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field except `raw` is optional; the schema is a lossy, deliberate normalization.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649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 — Registry Mental Model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71246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primitive vs. behavior distinction, before formalization.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26110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004 — Registry Design Notes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60857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finalized two-axis taxonomy and why it enables gap analysis.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18464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84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515721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 — Coverage Dimensions for Analytics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34440" y="5504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primitive × behavior and primitive × source as the two analysis dimensions, and what "dense" vs "sparse" means.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ai-sec-workbench  |  23/23  |  Appendix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2026-07-24T09:12:45Z</dcterms:created>
  <dcterms:modified xsi:type="dcterms:W3CDTF">2026-07-24T09:12:45Z</dcterms:modified>
</cp:coreProperties>
</file>